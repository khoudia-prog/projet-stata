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UBT/EA médian</c:v>
                </c:pt>
              </c:strCache>
            </c:strRef>
          </c:tx>
          <c:spPr>
            <a:solidFill>
              <a:srgbClr val="C492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853-491C-AE41-F1810984ED4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853-491C-AE41-F1810984ED44}"/>
              </c:ext>
            </c:extLst>
          </c:dPt>
          <c:dPt>
            <c:idx val="2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853-491C-AE41-F1810984ED4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4853-491C-AE41-F1810984ED4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4853-491C-AE41-F1810984ED4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C1A0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Sénégal</c:v>
                </c:pt>
                <c:pt idx="1">
                  <c:v>Mali</c:v>
                </c:pt>
                <c:pt idx="2">
                  <c:v>Mauritanie</c:v>
                </c:pt>
                <c:pt idx="3">
                  <c:v>Burkina Faso</c:v>
                </c:pt>
                <c:pt idx="4">
                  <c:v>Niger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5.17</c:v>
                </c:pt>
                <c:pt idx="1">
                  <c:v>6.29</c:v>
                </c:pt>
                <c:pt idx="2">
                  <c:v>10.33</c:v>
                </c:pt>
                <c:pt idx="3">
                  <c:v>3.88</c:v>
                </c:pt>
                <c:pt idx="4">
                  <c:v>3.83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853-491C-AE41-F1810984ED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EFE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 (FCFA)</c:v>
                </c:pt>
              </c:strCache>
            </c:strRef>
          </c:tx>
          <c:spPr>
            <a:solidFill>
              <a:srgbClr val="B84A2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FA0-41B2-87EA-BFAB2243894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FA0-41B2-87EA-BFAB2243894F}"/>
              </c:ext>
            </c:extLst>
          </c:dPt>
          <c:dPt>
            <c:idx val="2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FA0-41B2-87EA-BFAB2243894F}"/>
              </c:ext>
            </c:extLst>
          </c:dPt>
          <c:dPt>
            <c:idx val="3"/>
            <c:invertIfNegative val="0"/>
            <c:bubble3D val="0"/>
            <c:spPr>
              <a:solidFill>
                <a:srgbClr val="E07B3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FA0-41B2-87EA-BFAB2243894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C1A0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Femelle vs Mâle</c:v>
                </c:pt>
                <c:pt idx="1">
                  <c:v>Animal confié</c:v>
                </c:pt>
                <c:pt idx="2">
                  <c:v>Marché→Producteur local</c:v>
                </c:pt>
                <c:pt idx="3">
                  <c:v>Marché→Commerçant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-29135</c:v>
                </c:pt>
                <c:pt idx="1">
                  <c:v>-34792</c:v>
                </c:pt>
                <c:pt idx="2">
                  <c:v>-21199</c:v>
                </c:pt>
                <c:pt idx="3">
                  <c:v>-12806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FA0-41B2-87EA-BFAB224389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5EFE6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émigrés</c:v>
                </c:pt>
              </c:strCache>
            </c:strRef>
          </c:tx>
          <c:spPr>
            <a:solidFill>
              <a:srgbClr val="C492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C1A0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Sénégal</c:v>
                </c:pt>
                <c:pt idx="1">
                  <c:v>Mali</c:v>
                </c:pt>
                <c:pt idx="2">
                  <c:v>Mauritanie</c:v>
                </c:pt>
                <c:pt idx="3">
                  <c:v>Burkina Faso</c:v>
                </c:pt>
                <c:pt idx="4">
                  <c:v>Niger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57</c:v>
                </c:pt>
                <c:pt idx="1">
                  <c:v>48</c:v>
                </c:pt>
                <c:pt idx="2">
                  <c:v>22</c:v>
                </c:pt>
                <c:pt idx="3">
                  <c:v>6</c:v>
                </c:pt>
                <c:pt idx="4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ED-4DE3-9751-29BC20FE76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Moy. par ménage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2C1A0E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Sénégal</c:v>
                </c:pt>
                <c:pt idx="1">
                  <c:v>Mali</c:v>
                </c:pt>
                <c:pt idx="2">
                  <c:v>Mauritanie</c:v>
                </c:pt>
                <c:pt idx="3">
                  <c:v>Burkina Faso</c:v>
                </c:pt>
                <c:pt idx="4">
                  <c:v>Niger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2.11</c:v>
                </c:pt>
                <c:pt idx="1">
                  <c:v>1.55</c:v>
                </c:pt>
                <c:pt idx="2">
                  <c:v>1.47</c:v>
                </c:pt>
                <c:pt idx="3">
                  <c:v>1.5</c:v>
                </c:pt>
                <c:pt idx="4">
                  <c:v>1.45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ED-4DE3-9751-29BC20FE76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2C1A0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EFE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Ailleurs dans le pays</c:v>
                </c:pt>
              </c:strCache>
            </c:strRef>
          </c:tx>
          <c:spPr>
            <a:solidFill>
              <a:srgbClr val="C4924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Sénégal</c:v>
                </c:pt>
                <c:pt idx="1">
                  <c:v>Mali</c:v>
                </c:pt>
                <c:pt idx="2">
                  <c:v>Mauritanie</c:v>
                </c:pt>
                <c:pt idx="3">
                  <c:v>Burkina Faso</c:v>
                </c:pt>
                <c:pt idx="4">
                  <c:v>Niger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19.510000000000002</c:v>
                </c:pt>
                <c:pt idx="2">
                  <c:v>52.17</c:v>
                </c:pt>
                <c:pt idx="3">
                  <c:v>41.67</c:v>
                </c:pt>
                <c:pt idx="4">
                  <c:v>13.89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07-4DFF-8902-248D4B7273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Ailleurs au Sahel</c:v>
                </c:pt>
              </c:strCache>
            </c:strRef>
          </c:tx>
          <c:spPr>
            <a:solidFill>
              <a:srgbClr val="8B6F4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Sénégal</c:v>
                </c:pt>
                <c:pt idx="1">
                  <c:v>Mali</c:v>
                </c:pt>
                <c:pt idx="2">
                  <c:v>Mauritanie</c:v>
                </c:pt>
                <c:pt idx="3">
                  <c:v>Burkina Faso</c:v>
                </c:pt>
                <c:pt idx="4">
                  <c:v>Niger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27.14</c:v>
                </c:pt>
                <c:pt idx="1">
                  <c:v>26.83</c:v>
                </c:pt>
                <c:pt idx="2">
                  <c:v>34.78</c:v>
                </c:pt>
                <c:pt idx="3">
                  <c:v>41.67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07-4DFF-8902-248D4B72736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Pays côtiers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Sénégal</c:v>
                </c:pt>
                <c:pt idx="1">
                  <c:v>Mali</c:v>
                </c:pt>
                <c:pt idx="2">
                  <c:v>Mauritanie</c:v>
                </c:pt>
                <c:pt idx="3">
                  <c:v>Burkina Faso</c:v>
                </c:pt>
                <c:pt idx="4">
                  <c:v>Niger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8.57</c:v>
                </c:pt>
                <c:pt idx="1">
                  <c:v>19.510000000000002</c:v>
                </c:pt>
                <c:pt idx="2">
                  <c:v>8.6999999999999993</c:v>
                </c:pt>
                <c:pt idx="3">
                  <c:v>16.670000000000002</c:v>
                </c:pt>
                <c:pt idx="4">
                  <c:v>86.11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107-4DFF-8902-248D4B72736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Europe/US</c:v>
                </c:pt>
              </c:strCache>
            </c:strRef>
          </c:tx>
          <c:spPr>
            <a:solidFill>
              <a:srgbClr val="2C1A0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Sénégal</c:v>
                </c:pt>
                <c:pt idx="1">
                  <c:v>Mali</c:v>
                </c:pt>
                <c:pt idx="2">
                  <c:v>Mauritanie</c:v>
                </c:pt>
                <c:pt idx="3">
                  <c:v>Burkina Faso</c:v>
                </c:pt>
                <c:pt idx="4">
                  <c:v>Niger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17.14</c:v>
                </c:pt>
                <c:pt idx="1">
                  <c:v>0</c:v>
                </c:pt>
                <c:pt idx="2">
                  <c:v>4.3499999999999996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107-4DFF-8902-248D4B72736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Afrique du Nord</c:v>
                </c:pt>
              </c:strCache>
            </c:strRef>
          </c:tx>
          <c:spPr>
            <a:solidFill>
              <a:srgbClr val="4A7C59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Sénégal</c:v>
                </c:pt>
                <c:pt idx="1">
                  <c:v>Mali</c:v>
                </c:pt>
                <c:pt idx="2">
                  <c:v>Mauritanie</c:v>
                </c:pt>
                <c:pt idx="3">
                  <c:v>Burkina Faso</c:v>
                </c:pt>
                <c:pt idx="4">
                  <c:v>Niger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1.43</c:v>
                </c:pt>
                <c:pt idx="1">
                  <c:v>21.95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107-4DFF-8902-248D4B7273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2C1A0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5EFE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557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TP3 — Élevage Pastoral au Sahel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4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données famille-troupeau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4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pays du Sahel · 391 ménages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Ndèye</a:t>
            </a:r>
            <a:r>
              <a:rPr lang="en-US" sz="13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Khoudia Diop &amp; Abdou Kader Zongo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 err="1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Outils</a:t>
            </a:r>
            <a:r>
              <a:rPr lang="en-US" sz="11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IA : Gemini CLI/ Claude AI ·  Stata 17  ·  Mai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DÉMARCHE 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avons-nous utilisé l'IA 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399032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 chaque bloc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6550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standard : « Explique ce bloc Stata ligne par ligne, identifie les choix discutables et propose une alternative. 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58568"/>
            <a:ext cx="384048" cy="38404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2258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2402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réponse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4963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la réponse à notre lecture du questionnaire et de la base de données.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99816"/>
            <a:ext cx="384048" cy="38404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3099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3081528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Accepter ou corriger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3375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les suggestions pertinentes, rejeter celles incorrectes, documenter dans PROMPTS.md.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41064"/>
            <a:ext cx="384048" cy="38404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0120" y="392277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Itérer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1788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Poser des questions de suivi pour les points non détectés spontanément par l'IA.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 de l'environnement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472184"/>
            <a:ext cx="73152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658368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6916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d'exécution requis pour npm et les outils CLI.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73152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658368" y="2093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Set-ExecutionPolicy RemoteSigned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236829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Déblocage PowerShell : autorise les scripts locaux non signés (npm.ps1).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25496"/>
            <a:ext cx="73152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658368" y="2770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-g @google/gemini-cli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30449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globale de Gemini CLI — substitut à Claude Code (accès gratuit).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02152"/>
            <a:ext cx="73152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658368" y="3447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Stata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" y="372160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${data} (dossier) / ${inputfile} (fichier) pour corriger l'erreur de sauvegarde.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78808"/>
            <a:ext cx="73152" cy="256032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58368" y="4123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permanent migr_count.dta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" y="439826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Remplacement du tempfile (perdu entre deux use) par un fichier permanent.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SUBSISTANCE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Agriculture : pratique globale et cultures par pays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menages pratiquant l'agriculture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20240" y="1728216"/>
            <a:ext cx="2103120" cy="201168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1920240" y="1728216"/>
            <a:ext cx="1682496" cy="20116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069080" y="1691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(n=56)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2585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2295144"/>
            <a:ext cx="2103120" cy="201168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920240" y="2295144"/>
            <a:ext cx="1198778" cy="20116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069080" y="22585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 (n=60)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8254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Mauritanie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20240" y="2862072"/>
            <a:ext cx="2103120" cy="201168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1920240" y="2862072"/>
            <a:ext cx="1598371" cy="20116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069080" y="28254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(n=53)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339242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Faso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3429000"/>
            <a:ext cx="2103120" cy="201168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1920240" y="3429000"/>
            <a:ext cx="1472184" cy="20116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069080" y="3392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(n=44)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39593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3995928"/>
            <a:ext cx="2103120" cy="201168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1920240" y="3995928"/>
            <a:ext cx="1976933" cy="20116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069080" y="3959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(n=66)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325880"/>
            <a:ext cx="36576" cy="3474720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00600" y="13716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 menages par culture</a:t>
            </a:r>
            <a:endParaRPr lang="en-US" sz="1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1691640"/>
          <a:ext cx="4114803" cy="3163824"/>
        </p:xfrm>
        <a:graphic>
          <a:graphicData uri="http://schemas.openxmlformats.org/drawingml/2006/table">
            <a:tbl>
              <a:tblPr/>
              <a:tblGrid>
                <a:gridCol w="5878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78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2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Sorgho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Niebe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Arachide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Maraich.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E07B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365760" y="468172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menages agro-pastoraux sur 391. Niebe et Mil : cultures les plus repandues.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SUBSISTANCE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 alimentaire &amp; taille des ménages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463040"/>
          <a:ext cx="6949440" cy="2743200"/>
        </p:xfrm>
        <a:graphic>
          <a:graphicData uri="http://schemas.openxmlformats.org/drawingml/2006/table">
            <a:tbl>
              <a:tblPr/>
              <a:tblGrid>
                <a:gridCol w="2316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Mois autosuffisance (moy.)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 médian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Sénégal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4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4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Mauritanie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4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Burkina Faso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 et Burkina Faso ont les meilleures performances alimentaires (&gt;7 mois).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Mauritanie : EA médian le plus faible (11.0), ménages plus petits.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SUBSISTANCE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Viabilité de l'élevage : ratio UBT/EA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17920" y="164592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B84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6263640" y="16733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critique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63640" y="19202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UBT/EA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256032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263640" y="25877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Mauritanie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263640" y="2834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 UBT/EA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17920" y="3474720"/>
            <a:ext cx="25603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6263640" y="350215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Burkina/Niger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263640" y="37490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~3.8 UBT/EA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: Bovin=0.7, Ovin/Caprin=0.1, Camelin=1.0  (FAO/CILSS)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VENTES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Prix de vente du betail par pays et par sexe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Senegal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144 784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146 452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Mauritanie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130 890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Burkina Faso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129 782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122 951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110 000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160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en FCFA. 1 459 transactions.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280160"/>
            <a:ext cx="448056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VENTES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Déterminants du prix de vente (MCO)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463040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5852160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52160" y="181051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0.14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760720" y="2468880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5852160" y="2514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52160" y="281635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1 430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760720" y="3474720"/>
            <a:ext cx="2834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852160" y="3520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+1 an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852160" y="38221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+7 752 F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0.14 : le modèle explique 14% de la variance. Variables manquantes : poids vif, état corporel, race.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VENTES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Correction : définition de la soudure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identifié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v1 définissait la période de soudure (mai–août) de façon uniforme pour tous les pays,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tenir compte des différences agroclimatiques.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36576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v2 (CILSS / FEWS NET)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880360"/>
          <a:ext cx="6400800" cy="914400"/>
        </p:xfrm>
        <a:graphic>
          <a:graphicData uri="http://schemas.openxmlformats.org/drawingml/2006/table">
            <a:tbl>
              <a:tblPr/>
              <a:tblGrid>
                <a:gridCol w="213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Soudure v1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Soudure 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1A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Sénégal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mai–août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mai–août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mai–août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mai–sept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Mauritanie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mai–août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mai–août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Burkina Faso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mai–août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mai–août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C1A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mai–août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A7C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mai–sept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ÉMIGRATION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Nombre d'émigrés par ménage (5 dernières années)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8229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: Années &lt;= 5 (duree d'absence). Senegal : plus d'emigres par menage (2.1 en moyenne). Burkina : peu de ménages concernés (n=4).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ÉMIGRATION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Destinations des émigrés par pays d'origine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371600"/>
          <a:ext cx="82296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6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 : 86% vers les pays côtiers. Sénégal : 17% vers Europe/US, 27% vers ailleurs au Sahel.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ÉMIGRATION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Corrélation : intensité migration vs viabilité pastorale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 = +0.20   (p &lt; 0.001)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positive et significative entre intensité d'émigration et ratio UBT/EA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8229600" cy="36576"/>
          </a:xfrm>
          <a:prstGeom prst="rect">
            <a:avLst/>
          </a:prstGeom>
          <a:solidFill>
            <a:srgbClr val="E8E0D5"/>
          </a:solidFill>
          <a:ln w="12700">
            <a:solidFill>
              <a:srgbClr val="E8E0D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29077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Interprétation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46704"/>
            <a:ext cx="73152" cy="256032"/>
          </a:xfrm>
          <a:prstGeom prst="rect">
            <a:avLst/>
          </a:prstGeom>
          <a:solidFill>
            <a:srgbClr val="B84A2F"/>
          </a:solidFill>
          <a:ln w="12700">
            <a:solidFill>
              <a:srgbClr val="B84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658368" y="32918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rejetée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32918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pauvreté pastorale ne pousse pas à l'exode (corrélation attendue négative).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986784"/>
            <a:ext cx="73152" cy="256032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58368" y="3931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observé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93192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ménages avec un grand troupeau ont aussi plus d'émigrés : les transferts des migrants permettraient de reconstituer le cheptel.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l'IA a bien fait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490472"/>
            <a:ext cx="228600" cy="228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47218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141732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ligne par ligne de la syntaxe Stata avec précision.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65960"/>
            <a:ext cx="228600" cy="228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57200" y="194767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189280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du bug de l'ordre : save FT_cleanID avant le calcul de HHsize/HHsizeEA.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41448"/>
            <a:ext cx="228600" cy="228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" y="23682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du doublon ID absent du duplicates drop après reshape.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16936"/>
            <a:ext cx="228600" cy="228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57200" y="28986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28437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culturel sur « sendré » (terme fulfuldé : vente à prix dérisoire/crédit).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92424"/>
            <a:ext cx="228600" cy="228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337413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4672" y="33192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de la médiane à la place de la moyenne pour l'imputation des prix.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67912"/>
            <a:ext cx="228600" cy="228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57200" y="384962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04672" y="379476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Différenciation de la soudure par pays (Mali, Niger : + septembre).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228600" cy="228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57200" y="432511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42702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Explication de la logique ET vs OU pour le drop des émigrés.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C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IA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l'IA a raté — et comment nous l'avons corrigé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6576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457200" y="1472184"/>
            <a:ext cx="228600" cy="228600"/>
          </a:xfrm>
          <a:prstGeom prst="rect">
            <a:avLst/>
          </a:prstGeom>
          <a:solidFill>
            <a:srgbClr val="B84A2F"/>
          </a:solidFill>
          <a:ln w="12700">
            <a:solidFill>
              <a:srgbClr val="B84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57200" y="1453896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417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foreach/egen non détecté spontanément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7099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 fallu poser la question directement. Correction : déplacer le foreach avant les deux calculs.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228600" cy="228600"/>
          </a:xfrm>
          <a:prstGeom prst="rect">
            <a:avLst/>
          </a:prstGeom>
          <a:solidFill>
            <a:srgbClr val="B84A2F"/>
          </a:solidFill>
          <a:ln w="12700">
            <a:solidFill>
              <a:srgbClr val="B84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57200" y="21305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" y="20939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prix [20k–450k] validée sans réserve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38658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a approuvé le choix avant de proposer des alternatives uniquement sur relance.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228600" cy="228600"/>
          </a:xfrm>
          <a:prstGeom prst="rect">
            <a:avLst/>
          </a:prstGeom>
          <a:solidFill>
            <a:srgbClr val="B84A2F"/>
          </a:solidFill>
          <a:ln w="12700">
            <a:solidFill>
              <a:srgbClr val="B84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57200" y="28072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4672" y="2770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doublon drop mean_P non signalé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3063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Repéré par lecture humaine du script (lignes 292–296).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02152"/>
            <a:ext cx="228600" cy="228600"/>
          </a:xfrm>
          <a:prstGeom prst="rect">
            <a:avLst/>
          </a:prstGeom>
          <a:solidFill>
            <a:srgbClr val="B84A2F"/>
          </a:solidFill>
          <a:ln w="12700">
            <a:solidFill>
              <a:srgbClr val="B84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57200" y="3483864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4672" y="34472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emigration_cleaning.do incomplet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3739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proposée était correcte mais les fautes de saisie spécifiques (noms de villes) manquaient.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178808"/>
            <a:ext cx="228600" cy="228600"/>
          </a:xfrm>
          <a:prstGeom prst="rect">
            <a:avLst/>
          </a:prstGeom>
          <a:solidFill>
            <a:srgbClr val="B84A2F"/>
          </a:solidFill>
          <a:ln w="12700">
            <a:solidFill>
              <a:srgbClr val="B84A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4672" y="41239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Sénégal agriculture = 0% non signalé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" y="4416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n'a pas alerté sur ce résultat suspect — notre vérification a détecté un problème de recodage.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C4924A"/>
          </a:solidFill>
          <a:ln w="12700">
            <a:solidFill>
              <a:srgbClr val="C492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 &amp; Apprentissages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clés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4813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Mauritanie : plus grand troupeau (10.3 UBT/EA médian). Niger : 86% des émigrés vont dans les pays côtiers. La corrélation migration/viabilité est positive (r=+0.20), suggérant un rôle des transferts dans la reconstitution du cheptel.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du modèle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395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R²=0.14 pour les prix : des variables clés manquent (poids vif, état corporel, race). La soudure uniforme en v1 introduisait un biais par pays.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Apprentissages IA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3101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L'IA est efficace pour expliquer et détecter des bugs courants, mais ne remplace pas la lecture critique du questionnaire source et la connaissance terrain.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9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d'or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42245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0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vérifier les résultats suspects (Sénégal : 0% agriculture) avant de conclure — l'IA ne signale pas automatiquement les anomalies de résultats.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1225</Words>
  <Application>Microsoft Office PowerPoint</Application>
  <PresentationFormat>Affichage à l'écran (16:9)</PresentationFormat>
  <Paragraphs>272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Anta Mbodj</cp:lastModifiedBy>
  <cp:revision>3</cp:revision>
  <dcterms:created xsi:type="dcterms:W3CDTF">2026-05-15T11:25:16Z</dcterms:created>
  <dcterms:modified xsi:type="dcterms:W3CDTF">2026-05-15T12:25:48Z</dcterms:modified>
</cp:coreProperties>
</file>